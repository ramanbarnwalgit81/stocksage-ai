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7B2FFF">
              <a:alpha val="1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00F5FF">
              <a:alpha val="8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73152"/>
            <a:ext cx="1005840" cy="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34272" y="73152"/>
            <a:ext cx="0" cy="64008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" y="5029200"/>
            <a:ext cx="82296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" y="4480560"/>
            <a:ext cx="0" cy="566928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02920"/>
            <a:ext cx="2011680" cy="256032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0292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GENAI APPLICATION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960120"/>
            <a:ext cx="82296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StockSage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7200" dirty="0"/>
          </a:p>
        </p:txBody>
      </p:sp>
      <p:sp>
        <p:nvSpPr>
          <p:cNvPr id="27" name="Shape 25"/>
          <p:cNvSpPr/>
          <p:nvPr/>
        </p:nvSpPr>
        <p:spPr>
          <a:xfrm>
            <a:off x="457200" y="3127248"/>
            <a:ext cx="4114800" cy="2743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91840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0C4D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AI-Powered Stock Analysis Chatbot  ·  Group Project Final Presentation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Raman Barnwal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1188720"/>
            <a:ext cx="164592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121615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49440" y="1645920"/>
            <a:ext cx="1645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49440" y="2148840"/>
            <a:ext cx="164592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17627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949440" y="2606040"/>
            <a:ext cx="1645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3108960"/>
            <a:ext cx="164592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313639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949440" y="3566160"/>
            <a:ext cx="1645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73152"/>
            <a:ext cx="1005840" cy="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73152"/>
            <a:ext cx="0" cy="64008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029200"/>
            <a:ext cx="82296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480560"/>
            <a:ext cx="0" cy="566928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10972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20624"/>
            <a:ext cx="4572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48640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&amp; Why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9525">
            <a:solidFill>
              <a:srgbClr val="7B2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463040"/>
            <a:ext cx="3931920" cy="1828800"/>
          </a:xfrm>
          <a:prstGeom prst="rect">
            <a:avLst/>
          </a:prstGeom>
          <a:solidFill>
            <a:srgbClr val="FF2D9B">
              <a:alpha val="15000"/>
            </a:srgbClr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417320"/>
            <a:ext cx="393192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08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THE PROBLEM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1874520"/>
            <a:ext cx="365760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 investors &amp; finance students lack access to professional-grade stock analysis without expensive tools or deep financial expertise.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3931920" cy="1828800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417320"/>
            <a:ext cx="393192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08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OUR SOLUTION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1874520"/>
            <a:ext cx="365760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StockSage AI — a Dify-powered chatbot delivering real-time prices, RSI analysis, news sentiment, and a Buy/Hold/Sell recommendation. Free. Instant. No expertise needed.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8412480" cy="54864"/>
          </a:xfrm>
          <a:prstGeom prst="rect">
            <a:avLst/>
          </a:prstGeom>
          <a:solidFill>
            <a:srgbClr val="00F5FF">
              <a:alpha val="3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661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USERS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0" y="3520440"/>
            <a:ext cx="192024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35204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  Retail Investors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192024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5204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🎓  Finance Students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3520440"/>
            <a:ext cx="192024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5204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Beginner Traders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institutional-grade stock intelligence accessible to everyone — powered by GenAI.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73152"/>
            <a:ext cx="1005840" cy="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73152"/>
            <a:ext cx="0" cy="64008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029200"/>
            <a:ext cx="82296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480560"/>
            <a:ext cx="0" cy="566928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10972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20624"/>
            <a:ext cx="45720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48640"/>
            <a:ext cx="7315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Was Built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9525">
            <a:solidFill>
              <a:srgbClr val="00FF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463040"/>
            <a:ext cx="1920240" cy="1920240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417320"/>
            <a:ext cx="192024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417320"/>
            <a:ext cx="1920240" cy="54864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5087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0040" y="19019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Dify.ai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240280"/>
            <a:ext cx="1188720" cy="0"/>
          </a:xfrm>
          <a:prstGeom prst="line">
            <a:avLst/>
          </a:prstGeom>
          <a:noFill/>
          <a:ln w="9525">
            <a:solidFill>
              <a:srgbClr val="00F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31720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No-code visual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builder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 platform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14600" y="1463040"/>
            <a:ext cx="1920240" cy="1920240"/>
          </a:xfrm>
          <a:prstGeom prst="rect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1417320"/>
            <a:ext cx="192024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1417320"/>
            <a:ext cx="192024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15087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468880" y="19019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Alpha Vantage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34640" y="2240280"/>
            <a:ext cx="1188720" cy="0"/>
          </a:xfrm>
          <a:prstGeom prst="line">
            <a:avLst/>
          </a:prstGeom>
          <a:noFill/>
          <a:ln w="9525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331720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30-day price history,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RSI &amp; technical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indicators API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463040"/>
            <a:ext cx="1920240" cy="1920240"/>
          </a:xfrm>
          <a:prstGeom prst="rect">
            <a:avLst/>
          </a:prstGeom>
          <a:solidFill>
            <a:srgbClr val="FF2D9B">
              <a:alpha val="15000"/>
            </a:srgbClr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417320"/>
            <a:ext cx="192024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417320"/>
            <a:ext cx="1920240" cy="54864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5087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◈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17720" y="19019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Finnhub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83480" y="2240280"/>
            <a:ext cx="1188720" cy="0"/>
          </a:xfrm>
          <a:prstGeom prst="line">
            <a:avLst/>
          </a:prstGeom>
          <a:noFill/>
          <a:ln w="9525">
            <a:solidFill>
              <a:srgbClr val="FF2D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331720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quotes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news for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12280" y="1463040"/>
            <a:ext cx="1920240" cy="1920240"/>
          </a:xfrm>
          <a:prstGeom prst="rect">
            <a:avLst/>
          </a:prstGeom>
          <a:solidFill>
            <a:srgbClr val="00FF88">
              <a:alpha val="1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1417320"/>
            <a:ext cx="192024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15087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◈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766560" y="1901952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GPT-4.1-mini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32320" y="2240280"/>
            <a:ext cx="1188720" cy="0"/>
          </a:xfrm>
          <a:prstGeom prst="line">
            <a:avLst/>
          </a:prstGeom>
          <a:noFill/>
          <a:ln w="9525">
            <a:solidFill>
              <a:srgbClr val="00FF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2331720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powering all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analysis, prediction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report generation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34930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Design Choices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385876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1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Multi-node pipeline — 10 specialized nodes, not one giant prompt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13308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1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API execution — quotes, history &amp; news fetched simultaneously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1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LLM output — fixed format labels ensure parseable, reliable data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10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dedicated LLM nodes — each with a single focused responsibility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73152"/>
            <a:ext cx="1005840" cy="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73152"/>
            <a:ext cx="0" cy="64008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029200"/>
            <a:ext cx="82296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480560"/>
            <a:ext cx="0" cy="566928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10972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20624"/>
            <a:ext cx="457200" cy="0"/>
          </a:xfrm>
          <a:prstGeom prst="line">
            <a:avLst/>
          </a:prstGeom>
          <a:noFill/>
          <a:ln w="19050">
            <a:solidFill>
              <a:srgbClr val="00F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30352"/>
            <a:ext cx="6400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Pipeline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9525">
            <a:solidFill>
              <a:srgbClr val="00F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307592"/>
            <a:ext cx="8631936" cy="21762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344168"/>
            <a:ext cx="8558784" cy="21031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38328" y="3611880"/>
            <a:ext cx="1325880" cy="1234440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2608" y="3566160"/>
            <a:ext cx="13258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" y="363016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66928" y="4023360"/>
            <a:ext cx="777240" cy="0"/>
          </a:xfrm>
          <a:prstGeom prst="line">
            <a:avLst/>
          </a:prstGeom>
          <a:noFill/>
          <a:ln w="9525">
            <a:solidFill>
              <a:srgbClr val="00F5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2608" y="4087368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→ Ticker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773936" y="3611880"/>
            <a:ext cx="1325880" cy="1234440"/>
          </a:xfrm>
          <a:prstGeom prst="rect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728216" y="3566160"/>
            <a:ext cx="13258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728216" y="363016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002536" y="4023360"/>
            <a:ext cx="777240" cy="0"/>
          </a:xfrm>
          <a:prstGeom prst="line">
            <a:avLst/>
          </a:prstGeom>
          <a:noFill/>
          <a:ln w="9525">
            <a:solidFill>
              <a:srgbClr val="7B2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728216" y="4087368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 Dates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9544" y="3611880"/>
            <a:ext cx="1325880" cy="1234440"/>
          </a:xfrm>
          <a:prstGeom prst="rect">
            <a:avLst/>
          </a:prstGeom>
          <a:solidFill>
            <a:srgbClr val="FF2D9B">
              <a:alpha val="15000"/>
            </a:srgbClr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63824" y="3566160"/>
            <a:ext cx="13258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63824" y="363016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3438144" y="4023360"/>
            <a:ext cx="777240" cy="0"/>
          </a:xfrm>
          <a:prstGeom prst="line">
            <a:avLst/>
          </a:prstGeom>
          <a:noFill/>
          <a:ln w="9525">
            <a:solidFill>
              <a:srgbClr val="FF2D9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63824" y="4087368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3× Parallel APIs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45152" y="3611880"/>
            <a:ext cx="1325880" cy="1234440"/>
          </a:xfrm>
          <a:prstGeom prst="rect">
            <a:avLst/>
          </a:prstGeom>
          <a:solidFill>
            <a:srgbClr val="00FF88">
              <a:alpha val="1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99432" y="3566160"/>
            <a:ext cx="13258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99432" y="363016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4873752" y="4023360"/>
            <a:ext cx="777240" cy="0"/>
          </a:xfrm>
          <a:prstGeom prst="line">
            <a:avLst/>
          </a:prstGeom>
          <a:noFill/>
          <a:ln w="9525">
            <a:solidFill>
              <a:srgbClr val="00FF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99432" y="4087368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+ Tech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080760" y="3611880"/>
            <a:ext cx="1325880" cy="1234440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35040" y="3566160"/>
            <a:ext cx="13258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35040" y="363016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309360" y="4023360"/>
            <a:ext cx="777240" cy="0"/>
          </a:xfrm>
          <a:prstGeom prst="line">
            <a:avLst/>
          </a:prstGeom>
          <a:noFill/>
          <a:ln w="9525">
            <a:solidFill>
              <a:srgbClr val="FFB8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35040" y="4087368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Prediction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516368" y="3611880"/>
            <a:ext cx="1325880" cy="1234440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70648" y="3566160"/>
            <a:ext cx="132588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70648" y="363016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7744968" y="4023360"/>
            <a:ext cx="777240" cy="0"/>
          </a:xfrm>
          <a:prstGeom prst="line">
            <a:avLst/>
          </a:prstGeom>
          <a:noFill/>
          <a:ln w="9525">
            <a:solidFill>
              <a:srgbClr val="00F5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70648" y="4087368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Report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73152"/>
            <a:ext cx="1005840" cy="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73152"/>
            <a:ext cx="0" cy="64008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029200"/>
            <a:ext cx="82296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480560"/>
            <a:ext cx="0" cy="566928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10972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GENAI TECHNIQUES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20624"/>
            <a:ext cx="457200" cy="0"/>
          </a:xfrm>
          <a:prstGeom prst="line">
            <a:avLst/>
          </a:prstGeom>
          <a:noFill/>
          <a:ln w="19050">
            <a:solidFill>
              <a:srgbClr val="7B2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30352"/>
            <a:ext cx="73152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Design &amp; AI Methods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9525">
            <a:solidFill>
              <a:srgbClr val="7B2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71600"/>
            <a:ext cx="4114800" cy="3520440"/>
          </a:xfrm>
          <a:prstGeom prst="rect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325880"/>
            <a:ext cx="4114800" cy="352044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1732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SAMPLE PROMPT — Sentiment Node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00784"/>
            <a:ext cx="3840480" cy="0"/>
          </a:xfrm>
          <a:prstGeom prst="line">
            <a:avLst/>
          </a:prstGeom>
          <a:noFill/>
          <a:ln w="9525">
            <a:solidFill>
              <a:srgbClr val="7B2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10512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04825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 are a financial sentiment analyst.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28600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Always respond in this exact format: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76148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SENTIMENT: [Bullish/Bearish/Neutral]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CONFIDENCE: [0-100%]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3697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KEY_THEMES: [3 themes]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SUMMARY: [2-3 sentences]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5020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187952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Analyze news for {{ticker}}: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2569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8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{{news_data}}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371600"/>
            <a:ext cx="4206240" cy="777240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325880"/>
            <a:ext cx="4206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99032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239512" y="1490472"/>
            <a:ext cx="0" cy="45720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1389888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Output Prompting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76672" y="1673352"/>
            <a:ext cx="3337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LLM node uses a fixed labeled format (TREND:, RSI_SIGNAL:) ensuring parseable, reliable outputs that chain into downstream nodes.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258568"/>
            <a:ext cx="4206240" cy="777240"/>
          </a:xfrm>
          <a:prstGeom prst="rect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212848"/>
            <a:ext cx="4206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28600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239512" y="2377440"/>
            <a:ext cx="0" cy="45720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2276856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Chained LLM Pipeline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376672" y="2560320"/>
            <a:ext cx="3337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LLM nodes feed sequentially: Ticker → Sentiment → Technical → Prediction → Report. Each specializes in exactly one task.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145536"/>
            <a:ext cx="4206240" cy="777240"/>
          </a:xfrm>
          <a:prstGeom prst="rect">
            <a:avLst/>
          </a:prstGeom>
          <a:solidFill>
            <a:srgbClr val="FF2D9B">
              <a:alpha val="15000"/>
            </a:srgbClr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3099816"/>
            <a:ext cx="4206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172968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5239512" y="3264408"/>
            <a:ext cx="0" cy="457200"/>
          </a:xfrm>
          <a:prstGeom prst="line">
            <a:avLst/>
          </a:prstGeom>
          <a:noFill/>
          <a:ln w="12700">
            <a:solidFill>
              <a:srgbClr val="FF2D9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3163824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Tool-Augmented Generation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76672" y="3447288"/>
            <a:ext cx="3337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custom API tools inject real-time market data into LLM context, grounding every claim in actual live data — not hallucinations.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4032504"/>
            <a:ext cx="4206240" cy="777240"/>
          </a:xfrm>
          <a:prstGeom prst="rect">
            <a:avLst/>
          </a:prstGeom>
          <a:solidFill>
            <a:srgbClr val="00FF88">
              <a:alpha val="1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3986784"/>
            <a:ext cx="4206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059936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5239512" y="4151376"/>
            <a:ext cx="0" cy="457200"/>
          </a:xfrm>
          <a:prstGeom prst="line">
            <a:avLst/>
          </a:prstGeom>
          <a:noFill/>
          <a:ln w="12700">
            <a:solidFill>
              <a:srgbClr val="00FF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4050792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Injection via Variables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376672" y="4334256"/>
            <a:ext cx="3337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passes structured API outputs directly into downstream prompts using {{node/output}} variable syntax — zero manual parsing.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73152"/>
            <a:ext cx="1005840" cy="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73152"/>
            <a:ext cx="0" cy="64008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029200"/>
            <a:ext cx="82296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480560"/>
            <a:ext cx="0" cy="566928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10972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20624"/>
            <a:ext cx="457200" cy="0"/>
          </a:xfrm>
          <a:prstGeom prst="line">
            <a:avLst/>
          </a:prstGeom>
          <a:noFill/>
          <a:ln w="1905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30352"/>
            <a:ext cx="82296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Executing StockSage AI — "Analyze AAPL"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9525">
            <a:solidFill>
              <a:srgbClr val="00FF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99032"/>
            <a:ext cx="1572768" cy="1920240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353312"/>
            <a:ext cx="1572768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353312"/>
            <a:ext cx="1572768" cy="45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43560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9224" y="1892808"/>
            <a:ext cx="914400" cy="0"/>
          </a:xfrm>
          <a:prstGeom prst="line">
            <a:avLst/>
          </a:prstGeom>
          <a:noFill/>
          <a:ln w="9525">
            <a:solidFill>
              <a:srgbClr val="00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93392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Query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2322576"/>
            <a:ext cx="157276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"Analyze Apple stock"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92808" y="173736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03120" y="1399032"/>
            <a:ext cx="1572768" cy="1920240"/>
          </a:xfrm>
          <a:prstGeom prst="rect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1353312"/>
            <a:ext cx="1572768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1353312"/>
            <a:ext cx="1572768" cy="457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143560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2386584" y="1892808"/>
            <a:ext cx="914400" cy="0"/>
          </a:xfrm>
          <a:prstGeom prst="line">
            <a:avLst/>
          </a:prstGeom>
          <a:noFill/>
          <a:ln w="9525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1993392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Ticker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057400" y="2322576"/>
            <a:ext cx="157276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GPT-5-mini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returns: AAPL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30168" y="173736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0480" y="1399032"/>
            <a:ext cx="1572768" cy="1920240"/>
          </a:xfrm>
          <a:prstGeom prst="rect">
            <a:avLst/>
          </a:prstGeom>
          <a:solidFill>
            <a:srgbClr val="FF2D9B">
              <a:alpha val="15000"/>
            </a:srgbClr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1353312"/>
            <a:ext cx="1572768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94760" y="1353312"/>
            <a:ext cx="1572768" cy="45720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143560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4123944" y="1892808"/>
            <a:ext cx="914400" cy="0"/>
          </a:xfrm>
          <a:prstGeom prst="line">
            <a:avLst/>
          </a:prstGeom>
          <a:noFill/>
          <a:ln w="9525">
            <a:solidFill>
              <a:srgbClr val="FF2D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1993392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APIs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794760" y="2322576"/>
            <a:ext cx="157276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· RSI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News fetched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67528" y="173736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77840" y="1399032"/>
            <a:ext cx="1572768" cy="1920240"/>
          </a:xfrm>
          <a:prstGeom prst="rect">
            <a:avLst/>
          </a:prstGeom>
          <a:solidFill>
            <a:srgbClr val="00FF88">
              <a:alpha val="1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32120" y="1353312"/>
            <a:ext cx="1572768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32120" y="1353312"/>
            <a:ext cx="1572768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143560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5861304" y="1892808"/>
            <a:ext cx="914400" cy="0"/>
          </a:xfrm>
          <a:prstGeom prst="line">
            <a:avLst/>
          </a:prstGeom>
          <a:noFill/>
          <a:ln w="9525">
            <a:solidFill>
              <a:srgbClr val="00FF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1993392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Analysis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32120" y="2322576"/>
            <a:ext cx="157276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nodes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04888" y="1737360"/>
            <a:ext cx="1645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15200" y="1399032"/>
            <a:ext cx="1572768" cy="1920240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69480" y="1353312"/>
            <a:ext cx="1572768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69480" y="1353312"/>
            <a:ext cx="1572768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143560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7598664" y="1892808"/>
            <a:ext cx="914400" cy="0"/>
          </a:xfrm>
          <a:prstGeom prst="line">
            <a:avLst/>
          </a:prstGeom>
          <a:noFill/>
          <a:ln w="9525">
            <a:solidFill>
              <a:srgbClr val="FFB8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993392"/>
            <a:ext cx="157276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Output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269480" y="2322576"/>
            <a:ext cx="1572768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institutional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generated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3474720"/>
            <a:ext cx="8503920" cy="1371600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3429000"/>
            <a:ext cx="85039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3429000"/>
            <a:ext cx="8503920" cy="45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3493008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OUTPUT  ·  AAPL Stock Analysis Report  ·  February 28, 2026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" y="377647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7200" y="395935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$102.45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457200" y="437083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+0.29%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874520" y="377647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RSI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874520" y="395935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1874520" y="437083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291840" y="377647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291840" y="395935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Bullish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3291840" y="437083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 confidence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709160" y="377647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709160" y="395935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$98.00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4709160" y="437083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floor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26480" y="377647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(1M)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126480" y="395935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$106–109</a:t>
            </a:r>
            <a:endParaRPr lang="en-US" sz="1700" dirty="0"/>
          </a:p>
        </p:txBody>
      </p:sp>
      <p:sp>
        <p:nvSpPr>
          <p:cNvPr id="69" name="Text 67"/>
          <p:cNvSpPr/>
          <p:nvPr/>
        </p:nvSpPr>
        <p:spPr>
          <a:xfrm>
            <a:off x="6126480" y="437083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case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543800" y="377647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543800" y="395935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</a:t>
            </a:r>
            <a:endParaRPr lang="en-US" sz="1700" dirty="0"/>
          </a:p>
        </p:txBody>
      </p:sp>
      <p:sp>
        <p:nvSpPr>
          <p:cNvPr id="72" name="Text 70"/>
          <p:cNvSpPr/>
          <p:nvPr/>
        </p:nvSpPr>
        <p:spPr>
          <a:xfrm>
            <a:off x="7543800" y="4370832"/>
            <a:ext cx="1325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signal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73152"/>
            <a:ext cx="1005840" cy="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73152"/>
            <a:ext cx="0" cy="64008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029200"/>
            <a:ext cx="82296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480560"/>
            <a:ext cx="0" cy="566928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10972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OUTPUT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20624"/>
            <a:ext cx="45720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AAPL Equity Research Report — Feb 27, 2026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9525">
            <a:solidFill>
              <a:srgbClr val="FFB8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" y="1261872"/>
            <a:ext cx="2697480" cy="3611880"/>
          </a:xfrm>
          <a:prstGeom prst="rect">
            <a:avLst/>
          </a:prstGeom>
          <a:solidFill>
            <a:srgbClr val="00F5FF">
              <a:alpha val="12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207008"/>
            <a:ext cx="2743200" cy="3703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207008"/>
            <a:ext cx="2743200" cy="256032"/>
          </a:xfrm>
          <a:prstGeom prst="rect">
            <a:avLst/>
          </a:prstGeom>
          <a:solidFill>
            <a:srgbClr val="00F5FF">
              <a:alpha val="80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0700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Stats &amp; Sentiment Analysis</a:t>
            </a:r>
            <a:endParaRPr lang="en-US" sz="8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1481328"/>
            <a:ext cx="2670048" cy="33832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255264" y="1261872"/>
            <a:ext cx="2697480" cy="3611880"/>
          </a:xfrm>
          <a:prstGeom prst="rect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1207008"/>
            <a:ext cx="2743200" cy="370332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0" y="1207008"/>
            <a:ext cx="2743200" cy="256032"/>
          </a:xfrm>
          <a:prstGeom prst="rect">
            <a:avLst/>
          </a:prstGeom>
          <a:solidFill>
            <a:srgbClr val="7B2FFF">
              <a:alpha val="80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0" y="120700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Analysis &amp; RSI</a:t>
            </a:r>
            <a:endParaRPr lang="en-US" sz="8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1481328"/>
            <a:ext cx="2670048" cy="33832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181344" y="1261872"/>
            <a:ext cx="2697480" cy="3611880"/>
          </a:xfrm>
          <a:prstGeom prst="rect">
            <a:avLst/>
          </a:prstGeom>
          <a:solidFill>
            <a:srgbClr val="00FF88">
              <a:alpha val="12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26480" y="1207008"/>
            <a:ext cx="2743200" cy="3703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26480" y="1207008"/>
            <a:ext cx="2743200" cy="256032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26480" y="120700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Investment Thesis &amp; Recommendation</a:t>
            </a:r>
            <a:endParaRPr lang="en-US" sz="8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481328"/>
            <a:ext cx="2670048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2D9B"/>
          </a:solidFill>
          <a:ln w="12700">
            <a:solidFill>
              <a:srgbClr val="FF2D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73152"/>
            <a:ext cx="1005840" cy="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73152"/>
            <a:ext cx="0" cy="64008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5029200"/>
            <a:ext cx="82296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4480560"/>
            <a:ext cx="0" cy="566928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10972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2D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REFLECTIONS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20624"/>
            <a:ext cx="457200" cy="0"/>
          </a:xfrm>
          <a:prstGeom prst="line">
            <a:avLst/>
          </a:prstGeom>
          <a:noFill/>
          <a:ln w="19050">
            <a:solidFill>
              <a:srgbClr val="FF2D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30352"/>
            <a:ext cx="73152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Observations &amp; Lessons Learned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9525">
            <a:solidFill>
              <a:srgbClr val="FF2D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99032"/>
            <a:ext cx="2724912" cy="3493008"/>
          </a:xfrm>
          <a:prstGeom prst="rect">
            <a:avLst/>
          </a:prstGeom>
          <a:solidFill>
            <a:srgbClr val="00FF88">
              <a:alpha val="1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353312"/>
            <a:ext cx="2724912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353312"/>
            <a:ext cx="2724912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463040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What Worked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" y="1847088"/>
            <a:ext cx="2395728" cy="0"/>
          </a:xfrm>
          <a:prstGeom prst="line">
            <a:avLst/>
          </a:prstGeom>
          <a:noFill/>
          <a:ln w="9525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1956816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Dify's visual workflow made complex multi-step logic intuitive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" y="2660904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API execution cut response time from ~6s to ~2s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" y="3364992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output prompts produced reliable, parseable LLM data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" y="4069080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API tiers fully sufficient for functional prototype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1399032"/>
            <a:ext cx="2724912" cy="3493008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2968" y="1353312"/>
            <a:ext cx="2724912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72968" y="1353312"/>
            <a:ext cx="2724912" cy="457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463040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Challenges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1847088"/>
            <a:ext cx="2395728" cy="0"/>
          </a:xfrm>
          <a:prstGeom prst="line">
            <a:avLst/>
          </a:prstGeom>
          <a:noFill/>
          <a:ln w="9525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956816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Alpha Vantage 25 req/day limit hit during rapid testing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2660904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LLMs fabricated data when API calls returned empty responses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3364992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variable reference syntax is error-prone to configure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4069080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 gap — APPL vs AAPL caused silent failures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71616" y="1399032"/>
            <a:ext cx="2724912" cy="3493008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25896" y="1353312"/>
            <a:ext cx="2724912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5896" y="1353312"/>
            <a:ext cx="2724912" cy="45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0488" y="1463040"/>
            <a:ext cx="239572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Future Work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90488" y="1847088"/>
            <a:ext cx="2395728" cy="0"/>
          </a:xfrm>
          <a:prstGeom prst="line">
            <a:avLst/>
          </a:prstGeom>
          <a:noFill/>
          <a:ln w="9525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1956816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Error-handling guards to prevent LLM data hallucination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90488" y="2660904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Portfolio mode — analyze multiple tickers in one query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90488" y="3364992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layer integrating SEC filings for fundamental analysis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90488" y="4069080"/>
            <a:ext cx="23957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//  </a:t>
            </a:r>
            <a:r>
              <a:rPr lang="en-US" sz="1050" dirty="0">
                <a:solidFill>
                  <a:srgbClr val="B0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alert notifications via Dify webhook integrations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0D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00F5FF">
              <a:alpha val="8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2286000" y="1828800"/>
            <a:ext cx="4572000" cy="4572000"/>
          </a:xfrm>
          <a:prstGeom prst="ellipse">
            <a:avLst/>
          </a:prstGeom>
          <a:solidFill>
            <a:srgbClr val="7B2FFF">
              <a:alpha val="8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73152"/>
            <a:ext cx="1005840" cy="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34272" y="73152"/>
            <a:ext cx="0" cy="640080"/>
          </a:xfrm>
          <a:prstGeom prst="line">
            <a:avLst/>
          </a:prstGeom>
          <a:noFill/>
          <a:ln w="12700">
            <a:solidFill>
              <a:srgbClr val="00F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" y="5029200"/>
            <a:ext cx="822960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" y="4480560"/>
            <a:ext cx="0" cy="566928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</a:t>
            </a:r>
            <a:endParaRPr lang="en-US" sz="8000" dirty="0"/>
          </a:p>
        </p:txBody>
      </p:sp>
      <p:sp>
        <p:nvSpPr>
          <p:cNvPr id="24" name="Text 22"/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You.</a:t>
            </a:r>
            <a:endParaRPr lang="en-US" sz="80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5029200" cy="2743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71800"/>
            <a:ext cx="6858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090A8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StockSage AI — institutional-grade analysis for everyone.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3520440"/>
            <a:ext cx="1828800" cy="1005840"/>
          </a:xfrm>
          <a:prstGeom prst="rect">
            <a:avLst/>
          </a:prstGeom>
          <a:solidFill>
            <a:srgbClr val="00F5FF">
              <a:alpha val="15000"/>
            </a:srgbClr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74720"/>
            <a:ext cx="18288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044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57200" y="40690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Nodes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06040" y="3520440"/>
            <a:ext cx="1828800" cy="1005840"/>
          </a:xfrm>
          <a:prstGeom prst="rect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3474720"/>
            <a:ext cx="18288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52044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B2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2560320" y="40690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Tools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520440"/>
            <a:ext cx="1828800" cy="1005840"/>
          </a:xfrm>
          <a:prstGeom prst="rect">
            <a:avLst/>
          </a:prstGeom>
          <a:solidFill>
            <a:srgbClr val="00FF88">
              <a:alpha val="1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474720"/>
            <a:ext cx="18288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52044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FF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663440" y="40690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Nodes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3520440"/>
            <a:ext cx="1828800" cy="1005840"/>
          </a:xfrm>
          <a:prstGeom prst="rect">
            <a:avLst/>
          </a:prstGeom>
          <a:solidFill>
            <a:srgbClr val="FFB800">
              <a:alpha val="1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3474720"/>
            <a:ext cx="18288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352044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766560" y="40690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APIs Used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Raman Barnwal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3846</Words>
  <Application>WPS Presentation</Application>
  <PresentationFormat>On-screen Show (16:9)</PresentationFormat>
  <Paragraphs>334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Calibri Light</vt:lpstr>
      <vt:lpstr>Calibri Light</vt:lpstr>
      <vt:lpstr>Calibri Light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StockSage AI – Final Presentation</dc:title>
  <dc:creator>PptxGenJS</dc:creator>
  <dc:subject>PptxGenJS Presentation</dc:subject>
  <cp:lastModifiedBy>Raman Barnwal</cp:lastModifiedBy>
  <cp:revision>2</cp:revision>
  <dcterms:created xsi:type="dcterms:W3CDTF">2026-02-28T22:25:00Z</dcterms:created>
  <dcterms:modified xsi:type="dcterms:W3CDTF">2026-03-17T00:06:38Z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0F67649DE3A94355AEEB1953DBA5B1CD_12</vt:lpwstr>
  </property>
  <property fmtid="{D5CDD505-2E9C-101B-9397-08002B2CF9AE}" pid="3" name="KSOProductBuildVer">
    <vt:lpwstr>1033-12.2.0.23196</vt:lpwstr>
  </property>
</Properties>
</file>